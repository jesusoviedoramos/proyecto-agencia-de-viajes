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1" r:id="rId3"/>
    <p:sldId id="283" r:id="rId4"/>
    <p:sldId id="287" r:id="rId5"/>
    <p:sldId id="272" r:id="rId6"/>
    <p:sldId id="273" r:id="rId7"/>
    <p:sldId id="286" r:id="rId8"/>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940" autoAdjust="0"/>
  </p:normalViewPr>
  <p:slideViewPr>
    <p:cSldViewPr snapToGrid="0" snapToObjects="1">
      <p:cViewPr varScale="1">
        <p:scale>
          <a:sx n="73" d="100"/>
          <a:sy n="73" d="100"/>
        </p:scale>
        <p:origin x="1080"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yes reyes" userId="f918a2a981d54ead" providerId="LiveId" clId="{4680D26D-8724-45FB-A3C3-70FC74D76BBD}"/>
    <pc:docChg chg="custSel modSld">
      <pc:chgData name="reyes reyes" userId="f918a2a981d54ead" providerId="LiveId" clId="{4680D26D-8724-45FB-A3C3-70FC74D76BBD}" dt="2025-12-17T21:14:44.391" v="103" actId="313"/>
      <pc:docMkLst>
        <pc:docMk/>
      </pc:docMkLst>
      <pc:sldChg chg="modSp mod">
        <pc:chgData name="reyes reyes" userId="f918a2a981d54ead" providerId="LiveId" clId="{4680D26D-8724-45FB-A3C3-70FC74D76BBD}" dt="2025-12-17T21:14:44.391" v="103" actId="313"/>
        <pc:sldMkLst>
          <pc:docMk/>
          <pc:sldMk cId="808890695" sldId="256"/>
        </pc:sldMkLst>
        <pc:spChg chg="mod">
          <ac:chgData name="reyes reyes" userId="f918a2a981d54ead" providerId="LiveId" clId="{4680D26D-8724-45FB-A3C3-70FC74D76BBD}" dt="2025-12-17T21:14:44.391" v="103" actId="313"/>
          <ac:spMkLst>
            <pc:docMk/>
            <pc:sldMk cId="808890695" sldId="256"/>
            <ac:spMk id="6" creationId="{00000000-0000-0000-0000-000000000000}"/>
          </ac:spMkLst>
        </pc:spChg>
      </pc:sldChg>
      <pc:sldChg chg="modSp mod">
        <pc:chgData name="reyes reyes" userId="f918a2a981d54ead" providerId="LiveId" clId="{4680D26D-8724-45FB-A3C3-70FC74D76BBD}" dt="2025-12-17T21:12:06.241" v="19" actId="20577"/>
        <pc:sldMkLst>
          <pc:docMk/>
          <pc:sldMk cId="4274405718" sldId="273"/>
        </pc:sldMkLst>
        <pc:spChg chg="mod">
          <ac:chgData name="reyes reyes" userId="f918a2a981d54ead" providerId="LiveId" clId="{4680D26D-8724-45FB-A3C3-70FC74D76BBD}" dt="2025-12-17T21:12:06.241" v="19" actId="20577"/>
          <ac:spMkLst>
            <pc:docMk/>
            <pc:sldMk cId="4274405718" sldId="273"/>
            <ac:spMk id="3" creationId="{659BC786-1C2B-2F32-4061-DDC534EA76D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17/12/2025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819009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17/12/2025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6849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11BFFDA3-703B-5A46-AEFC-E14C30159CAC}" type="datetimeFigureOut">
              <a:rPr lang="es-ES" smtClean="0"/>
              <a:t>17/12/2025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10554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11BFFDA3-703B-5A46-AEFC-E14C30159CAC}" type="datetimeFigureOut">
              <a:rPr lang="es-ES" smtClean="0"/>
              <a:t>17/12/2025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055683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11BFFDA3-703B-5A46-AEFC-E14C30159CAC}" type="datetimeFigureOut">
              <a:rPr lang="es-ES" smtClean="0"/>
              <a:t>17/12/2025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737575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11BFFDA3-703B-5A46-AEFC-E14C30159CAC}" type="datetimeFigureOut">
              <a:rPr lang="es-ES" smtClean="0"/>
              <a:t>17/12/2025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79847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BFFDA3-703B-5A46-AEFC-E14C30159CAC}" type="datetimeFigureOut">
              <a:rPr lang="es-ES" smtClean="0"/>
              <a:t>17/12/2025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73372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17/12/2025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2804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17/12/2025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067530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17/12/2025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07942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17/12/2025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4246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FFDA3-703B-5A46-AEFC-E14C30159CAC}" type="datetimeFigureOut">
              <a:rPr lang="es-ES" smtClean="0"/>
              <a:t>17/12/2025</a:t>
            </a:fld>
            <a:endParaRPr lang="es-ES"/>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BE25F8-CB20-F449-B4F4-A964C31BB732}" type="slidenum">
              <a:rPr lang="es-ES" smtClean="0"/>
              <a:t>‹Nº›</a:t>
            </a:fld>
            <a:endParaRPr lang="es-ES"/>
          </a:p>
        </p:txBody>
      </p:sp>
    </p:spTree>
    <p:extLst>
      <p:ext uri="{BB962C8B-B14F-4D97-AF65-F5344CB8AC3E}">
        <p14:creationId xmlns:p14="http://schemas.microsoft.com/office/powerpoint/2010/main" val="287531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1560" y="2947566"/>
            <a:ext cx="7772400" cy="685347"/>
          </a:xfrm>
        </p:spPr>
        <p:txBody>
          <a:bodyPr/>
          <a:lstStyle/>
          <a:p>
            <a:r>
              <a:rPr lang="es-CL" sz="3600" b="1" dirty="0">
                <a:solidFill>
                  <a:srgbClr val="D40202"/>
                </a:solidFill>
                <a:latin typeface="Myriad Pro"/>
                <a:cs typeface="Myriad Pro"/>
              </a:rPr>
              <a:t>Gestión de agencia de viajes</a:t>
            </a:r>
          </a:p>
        </p:txBody>
      </p:sp>
      <p:sp>
        <p:nvSpPr>
          <p:cNvPr id="10" name="Rectángulo 9"/>
          <p:cNvSpPr/>
          <p:nvPr/>
        </p:nvSpPr>
        <p:spPr>
          <a:xfrm>
            <a:off x="469608"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CL" sz="1400" kern="1400" dirty="0">
                <a:solidFill>
                  <a:schemeClr val="bg1"/>
                </a:solidFill>
                <a:latin typeface="Myriad Pro Light"/>
                <a:cs typeface="Myriad Pro Light"/>
              </a:rPr>
              <a:t>TECNOLOGIA DE LA INFORMACION Y CIBERSEGURIDAD</a:t>
            </a: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47" y="1332361"/>
            <a:ext cx="1270076" cy="342346"/>
          </a:xfrm>
          <a:prstGeom prst="rect">
            <a:avLst/>
          </a:prstGeom>
        </p:spPr>
      </p:pic>
      <p:cxnSp>
        <p:nvCxnSpPr>
          <p:cNvPr id="14" name="Conector recto 13"/>
          <p:cNvCxnSpPr/>
          <p:nvPr/>
        </p:nvCxnSpPr>
        <p:spPr>
          <a:xfrm>
            <a:off x="615294"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5" name="Subtítulo 2"/>
          <p:cNvSpPr>
            <a:spLocks noGrp="1"/>
          </p:cNvSpPr>
          <p:nvPr>
            <p:ph type="subTitle" idx="1"/>
          </p:nvPr>
        </p:nvSpPr>
        <p:spPr>
          <a:xfrm>
            <a:off x="1297360" y="3712724"/>
            <a:ext cx="6400800" cy="362194"/>
          </a:xfrm>
        </p:spPr>
        <p:txBody>
          <a:bodyPr>
            <a:normAutofit fontScale="85000" lnSpcReduction="20000"/>
          </a:bodyPr>
          <a:lstStyle/>
          <a:p>
            <a:pPr marL="0" indent="0" algn="ctr">
              <a:buNone/>
            </a:pPr>
            <a:r>
              <a:rPr lang="es-CL" sz="2400" dirty="0">
                <a:latin typeface="Myriad Pro"/>
                <a:cs typeface="Myriad Pro"/>
              </a:rPr>
              <a:t>SOLUCION DE SOFTWARE</a:t>
            </a:r>
            <a:endParaRPr lang="es-CL" dirty="0">
              <a:latin typeface="Myriad Pro"/>
              <a:cs typeface="Myriad Pro"/>
            </a:endParaRPr>
          </a:p>
        </p:txBody>
      </p:sp>
      <p:sp>
        <p:nvSpPr>
          <p:cNvPr id="16" name="CuadroTexto 15"/>
          <p:cNvSpPr txBox="1"/>
          <p:nvPr/>
        </p:nvSpPr>
        <p:spPr>
          <a:xfrm>
            <a:off x="469608" y="5331580"/>
            <a:ext cx="7117526" cy="1361014"/>
          </a:xfrm>
          <a:prstGeom prst="rect">
            <a:avLst/>
          </a:prstGeom>
          <a:noFill/>
        </p:spPr>
        <p:txBody>
          <a:bodyPr wrap="none" rtlCol="0">
            <a:spAutoFit/>
          </a:bodyPr>
          <a:lstStyle/>
          <a:p>
            <a:pPr>
              <a:lnSpc>
                <a:spcPct val="120000"/>
              </a:lnSpc>
            </a:pPr>
            <a:r>
              <a:rPr lang="es-CL" sz="1400" dirty="0">
                <a:latin typeface="Myriad Pro"/>
                <a:cs typeface="Myriad Pro"/>
              </a:rPr>
              <a:t>NOMBRE: GERARDO REYES REYES / JORGE RODRIGUEZ LEIVA / JESUS OVIEDO RAMOS.</a:t>
            </a:r>
          </a:p>
          <a:p>
            <a:pPr>
              <a:lnSpc>
                <a:spcPct val="120000"/>
              </a:lnSpc>
            </a:pPr>
            <a:r>
              <a:rPr lang="es-CL" sz="1400" dirty="0">
                <a:latin typeface="Myriad Pro"/>
                <a:cs typeface="Myriad Pro"/>
              </a:rPr>
              <a:t>CARRERA: ANALISTA PROGRAMADOR.</a:t>
            </a:r>
          </a:p>
          <a:p>
            <a:pPr>
              <a:lnSpc>
                <a:spcPct val="120000"/>
              </a:lnSpc>
            </a:pPr>
            <a:r>
              <a:rPr lang="es-CL" sz="1400" dirty="0">
                <a:latin typeface="Myriad Pro"/>
                <a:cs typeface="Myriad Pro"/>
              </a:rPr>
              <a:t>ASIGNATURA: PROGRAMACION ORIENTADA A OBJETO SEGURO.</a:t>
            </a:r>
          </a:p>
          <a:p>
            <a:pPr>
              <a:lnSpc>
                <a:spcPct val="120000"/>
              </a:lnSpc>
            </a:pPr>
            <a:r>
              <a:rPr lang="es-CL" sz="1400" dirty="0">
                <a:latin typeface="Myriad Pro"/>
                <a:cs typeface="Myriad Pro"/>
              </a:rPr>
              <a:t>PROFESOR:  CLAUDIO MUÑOZ SEPULVEDA</a:t>
            </a:r>
          </a:p>
          <a:p>
            <a:pPr>
              <a:lnSpc>
                <a:spcPct val="120000"/>
              </a:lnSpc>
            </a:pPr>
            <a:r>
              <a:rPr lang="es-CL" sz="1400" dirty="0">
                <a:latin typeface="Myriad Pro"/>
                <a:cs typeface="Myriad Pro"/>
              </a:rPr>
              <a:t>FECHA: 17/12/2025</a:t>
            </a: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6331E85-E3ED-3C60-9A54-B74AEDA48B36}"/>
              </a:ext>
            </a:extLst>
          </p:cNvPr>
          <p:cNvSpPr>
            <a:spLocks noGrp="1"/>
          </p:cNvSpPr>
          <p:nvPr>
            <p:ph idx="1"/>
          </p:nvPr>
        </p:nvSpPr>
        <p:spPr>
          <a:xfrm>
            <a:off x="457200" y="1756955"/>
            <a:ext cx="8229600" cy="4525963"/>
          </a:xfrm>
        </p:spPr>
        <p:txBody>
          <a:bodyPr>
            <a:normAutofit fontScale="77500" lnSpcReduction="20000"/>
          </a:bodyPr>
          <a:lstStyle/>
          <a:p>
            <a:r>
              <a:rPr lang="es-ES" dirty="0"/>
              <a:t> Introducción:</a:t>
            </a:r>
          </a:p>
          <a:p>
            <a:pPr marL="0" indent="0">
              <a:buNone/>
            </a:pPr>
            <a:endParaRPr lang="es-ES" dirty="0"/>
          </a:p>
          <a:p>
            <a:r>
              <a:rPr lang="es-ES" dirty="0"/>
              <a:t>informe técnico que documenta el diseño, desarrollo e implementación de un sistema de reservas en línea para la agencia de viajes “Viajes Aventura”,</a:t>
            </a:r>
          </a:p>
          <a:p>
            <a:r>
              <a:rPr lang="es-ES" dirty="0"/>
              <a:t>Desarrollado en Python, aplicando metodologías ágiles, diagramación UML, modelado de procesos BPMN, autenticación segura mediante hash de contraseñas y persistencia en base de datos.</a:t>
            </a:r>
          </a:p>
          <a:p>
            <a:r>
              <a:rPr lang="es-ES" dirty="0"/>
              <a:t>El objetivo del sistema es permitir la gestión de destinos, paquetes turísticos y reservas, facilitando a los clientes la planificación y reserva de viajes de forma segura y eficiente.</a:t>
            </a:r>
          </a:p>
          <a:p>
            <a:endParaRPr lang="es-ES" dirty="0"/>
          </a:p>
          <a:p>
            <a:endParaRPr lang="es-CL" dirty="0"/>
          </a:p>
        </p:txBody>
      </p:sp>
      <p:pic>
        <p:nvPicPr>
          <p:cNvPr id="4" name="Imagen 3">
            <a:extLst>
              <a:ext uri="{FF2B5EF4-FFF2-40B4-BE49-F238E27FC236}">
                <a16:creationId xmlns:a16="http://schemas.microsoft.com/office/drawing/2014/main" id="{BA240AB7-9DC2-54EB-CF1A-0EC972E5C50E}"/>
              </a:ext>
            </a:extLst>
          </p:cNvPr>
          <p:cNvPicPr>
            <a:picLocks noChangeAspect="1"/>
          </p:cNvPicPr>
          <p:nvPr/>
        </p:nvPicPr>
        <p:blipFill>
          <a:blip r:embed="rId2"/>
          <a:stretch>
            <a:fillRect/>
          </a:stretch>
        </p:blipFill>
        <p:spPr>
          <a:xfrm>
            <a:off x="7949144" y="6404272"/>
            <a:ext cx="926672" cy="249958"/>
          </a:xfrm>
          <a:prstGeom prst="rect">
            <a:avLst/>
          </a:prstGeom>
        </p:spPr>
      </p:pic>
    </p:spTree>
    <p:extLst>
      <p:ext uri="{BB962C8B-B14F-4D97-AF65-F5344CB8AC3E}">
        <p14:creationId xmlns:p14="http://schemas.microsoft.com/office/powerpoint/2010/main" val="661900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331E96-8056-D6B4-2852-A03558B42C88}"/>
              </a:ext>
            </a:extLst>
          </p:cNvPr>
          <p:cNvSpPr>
            <a:spLocks noGrp="1"/>
          </p:cNvSpPr>
          <p:nvPr>
            <p:ph type="title"/>
          </p:nvPr>
        </p:nvSpPr>
        <p:spPr/>
        <p:txBody>
          <a:bodyPr>
            <a:normAutofit/>
          </a:bodyPr>
          <a:lstStyle/>
          <a:p>
            <a:r>
              <a:rPr lang="es-CL" sz="2400" dirty="0">
                <a:solidFill>
                  <a:srgbClr val="C00000"/>
                </a:solidFill>
              </a:rPr>
              <a:t>Planificación del proyecto desarrollo software.</a:t>
            </a:r>
          </a:p>
        </p:txBody>
      </p:sp>
      <p:pic>
        <p:nvPicPr>
          <p:cNvPr id="4" name="Marcador de contenido 3">
            <a:extLst>
              <a:ext uri="{FF2B5EF4-FFF2-40B4-BE49-F238E27FC236}">
                <a16:creationId xmlns:a16="http://schemas.microsoft.com/office/drawing/2014/main" id="{26D23367-F7C7-09B5-1F62-C5B25FB96D2D}"/>
              </a:ext>
            </a:extLst>
          </p:cNvPr>
          <p:cNvPicPr>
            <a:picLocks noGrp="1" noChangeAspect="1"/>
          </p:cNvPicPr>
          <p:nvPr>
            <p:ph idx="1"/>
          </p:nvPr>
        </p:nvPicPr>
        <p:blipFill>
          <a:blip r:embed="rId2"/>
          <a:stretch>
            <a:fillRect/>
          </a:stretch>
        </p:blipFill>
        <p:spPr>
          <a:xfrm>
            <a:off x="935372" y="1417638"/>
            <a:ext cx="7751428" cy="4751764"/>
          </a:xfrm>
          <a:prstGeom prst="rect">
            <a:avLst/>
          </a:prstGeom>
        </p:spPr>
      </p:pic>
      <p:pic>
        <p:nvPicPr>
          <p:cNvPr id="5" name="Imagen 4">
            <a:extLst>
              <a:ext uri="{FF2B5EF4-FFF2-40B4-BE49-F238E27FC236}">
                <a16:creationId xmlns:a16="http://schemas.microsoft.com/office/drawing/2014/main" id="{F2C6ACC8-DC1C-9647-D132-76959D485C26}"/>
              </a:ext>
            </a:extLst>
          </p:cNvPr>
          <p:cNvPicPr>
            <a:picLocks noChangeAspect="1"/>
          </p:cNvPicPr>
          <p:nvPr/>
        </p:nvPicPr>
        <p:blipFill>
          <a:blip r:embed="rId3"/>
          <a:stretch>
            <a:fillRect/>
          </a:stretch>
        </p:blipFill>
        <p:spPr>
          <a:xfrm>
            <a:off x="7975989" y="6322918"/>
            <a:ext cx="926672" cy="249958"/>
          </a:xfrm>
          <a:prstGeom prst="rect">
            <a:avLst/>
          </a:prstGeom>
        </p:spPr>
      </p:pic>
    </p:spTree>
    <p:extLst>
      <p:ext uri="{BB962C8B-B14F-4D97-AF65-F5344CB8AC3E}">
        <p14:creationId xmlns:p14="http://schemas.microsoft.com/office/powerpoint/2010/main" val="1693445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E9204E46-B949-D85C-C751-C505EC2C20F4}"/>
              </a:ext>
            </a:extLst>
          </p:cNvPr>
          <p:cNvPicPr>
            <a:picLocks noGrp="1" noChangeAspect="1"/>
          </p:cNvPicPr>
          <p:nvPr>
            <p:ph idx="1"/>
          </p:nvPr>
        </p:nvPicPr>
        <p:blipFill>
          <a:blip r:embed="rId2"/>
          <a:stretch>
            <a:fillRect/>
          </a:stretch>
        </p:blipFill>
        <p:spPr>
          <a:xfrm>
            <a:off x="0" y="1283516"/>
            <a:ext cx="9144000" cy="4474550"/>
          </a:xfrm>
        </p:spPr>
      </p:pic>
      <p:sp>
        <p:nvSpPr>
          <p:cNvPr id="3" name="CuadroTexto 2">
            <a:extLst>
              <a:ext uri="{FF2B5EF4-FFF2-40B4-BE49-F238E27FC236}">
                <a16:creationId xmlns:a16="http://schemas.microsoft.com/office/drawing/2014/main" id="{057EBC72-1795-9E5B-8FB8-BAB3B6878CBD}"/>
              </a:ext>
            </a:extLst>
          </p:cNvPr>
          <p:cNvSpPr txBox="1"/>
          <p:nvPr/>
        </p:nvSpPr>
        <p:spPr>
          <a:xfrm>
            <a:off x="770708" y="503311"/>
            <a:ext cx="4572000" cy="369332"/>
          </a:xfrm>
          <a:prstGeom prst="rect">
            <a:avLst/>
          </a:prstGeom>
          <a:noFill/>
        </p:spPr>
        <p:txBody>
          <a:bodyPr wrap="square">
            <a:spAutoFit/>
          </a:bodyPr>
          <a:lstStyle/>
          <a:p>
            <a:r>
              <a:rPr lang="es-CL" dirty="0"/>
              <a:t>DIAGRAMA BPMN.</a:t>
            </a:r>
          </a:p>
        </p:txBody>
      </p:sp>
    </p:spTree>
    <p:extLst>
      <p:ext uri="{BB962C8B-B14F-4D97-AF65-F5344CB8AC3E}">
        <p14:creationId xmlns:p14="http://schemas.microsoft.com/office/powerpoint/2010/main" val="3735836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0C9D0F4-D398-EA1E-CF55-AC27E92741F0}"/>
              </a:ext>
            </a:extLst>
          </p:cNvPr>
          <p:cNvPicPr>
            <a:picLocks noChangeAspect="1"/>
          </p:cNvPicPr>
          <p:nvPr/>
        </p:nvPicPr>
        <p:blipFill>
          <a:blip r:embed="rId2"/>
          <a:stretch>
            <a:fillRect/>
          </a:stretch>
        </p:blipFill>
        <p:spPr>
          <a:xfrm>
            <a:off x="330926" y="801189"/>
            <a:ext cx="8516983" cy="5294811"/>
          </a:xfrm>
          <a:prstGeom prst="rect">
            <a:avLst/>
          </a:prstGeom>
        </p:spPr>
      </p:pic>
      <p:pic>
        <p:nvPicPr>
          <p:cNvPr id="7" name="Imagen 6">
            <a:extLst>
              <a:ext uri="{FF2B5EF4-FFF2-40B4-BE49-F238E27FC236}">
                <a16:creationId xmlns:a16="http://schemas.microsoft.com/office/drawing/2014/main" id="{AF02B46C-6677-08B7-5979-4639BB75F92C}"/>
              </a:ext>
            </a:extLst>
          </p:cNvPr>
          <p:cNvPicPr>
            <a:picLocks noChangeAspect="1"/>
          </p:cNvPicPr>
          <p:nvPr/>
        </p:nvPicPr>
        <p:blipFill>
          <a:blip r:embed="rId3"/>
          <a:stretch>
            <a:fillRect/>
          </a:stretch>
        </p:blipFill>
        <p:spPr>
          <a:xfrm>
            <a:off x="7921237" y="6334604"/>
            <a:ext cx="926672" cy="249958"/>
          </a:xfrm>
          <a:prstGeom prst="rect">
            <a:avLst/>
          </a:prstGeom>
        </p:spPr>
      </p:pic>
      <p:sp>
        <p:nvSpPr>
          <p:cNvPr id="3" name="CuadroTexto 2">
            <a:extLst>
              <a:ext uri="{FF2B5EF4-FFF2-40B4-BE49-F238E27FC236}">
                <a16:creationId xmlns:a16="http://schemas.microsoft.com/office/drawing/2014/main" id="{F192A11F-4E0D-D919-9F01-7B6792218EA7}"/>
              </a:ext>
            </a:extLst>
          </p:cNvPr>
          <p:cNvSpPr txBox="1"/>
          <p:nvPr/>
        </p:nvSpPr>
        <p:spPr>
          <a:xfrm>
            <a:off x="1240972" y="372682"/>
            <a:ext cx="4572000" cy="646331"/>
          </a:xfrm>
          <a:prstGeom prst="rect">
            <a:avLst/>
          </a:prstGeom>
          <a:noFill/>
        </p:spPr>
        <p:txBody>
          <a:bodyPr wrap="square">
            <a:spAutoFit/>
          </a:bodyPr>
          <a:lstStyle/>
          <a:p>
            <a:r>
              <a:rPr lang="es-CL" dirty="0"/>
              <a:t>DIAGRAMA CASO DE USO</a:t>
            </a:r>
          </a:p>
          <a:p>
            <a:endParaRPr lang="es-CL" dirty="0"/>
          </a:p>
        </p:txBody>
      </p:sp>
    </p:spTree>
    <p:extLst>
      <p:ext uri="{BB962C8B-B14F-4D97-AF65-F5344CB8AC3E}">
        <p14:creationId xmlns:p14="http://schemas.microsoft.com/office/powerpoint/2010/main" val="405936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C007F24C-B1D3-5539-DE33-5CD359A3CFA1}"/>
              </a:ext>
            </a:extLst>
          </p:cNvPr>
          <p:cNvPicPr>
            <a:picLocks noChangeAspect="1"/>
          </p:cNvPicPr>
          <p:nvPr/>
        </p:nvPicPr>
        <p:blipFill>
          <a:blip r:embed="rId2"/>
          <a:stretch>
            <a:fillRect/>
          </a:stretch>
        </p:blipFill>
        <p:spPr>
          <a:xfrm>
            <a:off x="0" y="844731"/>
            <a:ext cx="9144000" cy="6013269"/>
          </a:xfrm>
          <a:prstGeom prst="rect">
            <a:avLst/>
          </a:prstGeom>
        </p:spPr>
      </p:pic>
      <p:pic>
        <p:nvPicPr>
          <p:cNvPr id="11" name="Imagen 10">
            <a:extLst>
              <a:ext uri="{FF2B5EF4-FFF2-40B4-BE49-F238E27FC236}">
                <a16:creationId xmlns:a16="http://schemas.microsoft.com/office/drawing/2014/main" id="{0656B332-F20E-2A6A-7AB7-4C2CE05D352D}"/>
              </a:ext>
            </a:extLst>
          </p:cNvPr>
          <p:cNvPicPr>
            <a:picLocks noChangeAspect="1"/>
          </p:cNvPicPr>
          <p:nvPr/>
        </p:nvPicPr>
        <p:blipFill>
          <a:blip r:embed="rId3"/>
          <a:stretch>
            <a:fillRect/>
          </a:stretch>
        </p:blipFill>
        <p:spPr>
          <a:xfrm>
            <a:off x="7827224" y="6172928"/>
            <a:ext cx="926672" cy="249958"/>
          </a:xfrm>
          <a:prstGeom prst="rect">
            <a:avLst/>
          </a:prstGeom>
        </p:spPr>
      </p:pic>
      <p:sp>
        <p:nvSpPr>
          <p:cNvPr id="3" name="CuadroTexto 2">
            <a:extLst>
              <a:ext uri="{FF2B5EF4-FFF2-40B4-BE49-F238E27FC236}">
                <a16:creationId xmlns:a16="http://schemas.microsoft.com/office/drawing/2014/main" id="{659BC786-1C2B-2F32-4061-DDC534EA76D7}"/>
              </a:ext>
            </a:extLst>
          </p:cNvPr>
          <p:cNvSpPr txBox="1"/>
          <p:nvPr/>
        </p:nvSpPr>
        <p:spPr>
          <a:xfrm>
            <a:off x="439783" y="327354"/>
            <a:ext cx="4659086" cy="646331"/>
          </a:xfrm>
          <a:prstGeom prst="rect">
            <a:avLst/>
          </a:prstGeom>
          <a:noFill/>
        </p:spPr>
        <p:txBody>
          <a:bodyPr wrap="square">
            <a:spAutoFit/>
          </a:bodyPr>
          <a:lstStyle/>
          <a:p>
            <a:r>
              <a:rPr lang="es-CL" dirty="0"/>
              <a:t>DIAGRAMA DE CLASE</a:t>
            </a:r>
          </a:p>
          <a:p>
            <a:endParaRPr lang="es-CL" dirty="0"/>
          </a:p>
        </p:txBody>
      </p:sp>
    </p:spTree>
    <p:extLst>
      <p:ext uri="{BB962C8B-B14F-4D97-AF65-F5344CB8AC3E}">
        <p14:creationId xmlns:p14="http://schemas.microsoft.com/office/powerpoint/2010/main" val="4274405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EE27758-75F9-0E58-6005-82E5B8DA2ADE}"/>
              </a:ext>
            </a:extLst>
          </p:cNvPr>
          <p:cNvSpPr>
            <a:spLocks noGrp="1"/>
          </p:cNvSpPr>
          <p:nvPr>
            <p:ph idx="1"/>
          </p:nvPr>
        </p:nvSpPr>
        <p:spPr>
          <a:xfrm>
            <a:off x="457200" y="954248"/>
            <a:ext cx="8229600" cy="4525963"/>
          </a:xfrm>
        </p:spPr>
        <p:txBody>
          <a:bodyPr>
            <a:normAutofit fontScale="70000" lnSpcReduction="20000"/>
          </a:bodyPr>
          <a:lstStyle/>
          <a:p>
            <a:pPr marL="0" indent="0">
              <a:buNone/>
            </a:pPr>
            <a:endParaRPr lang="es-ES" dirty="0"/>
          </a:p>
          <a:p>
            <a:r>
              <a:rPr lang="es-ES" dirty="0"/>
              <a:t>Conclusión.</a:t>
            </a:r>
          </a:p>
          <a:p>
            <a:endParaRPr lang="es-ES" dirty="0"/>
          </a:p>
          <a:p>
            <a:endParaRPr lang="es-ES" dirty="0"/>
          </a:p>
          <a:p>
            <a:r>
              <a:rPr lang="es-ES" dirty="0"/>
              <a:t>El proyecto “Viajes Aventura” logró entregar una solución funcional que responde a las necesidades de una agencia de viajes: gestionar destinos, paquetes y reservas de forma segura y organizada.</a:t>
            </a:r>
          </a:p>
          <a:p>
            <a:endParaRPr lang="es-ES" dirty="0"/>
          </a:p>
          <a:p>
            <a:r>
              <a:rPr lang="es-ES" dirty="0"/>
              <a:t> A través del uso de metodologías ágiles, modelado UML y BPMN, y una implementación en Python con autenticación por hash y base de datos, se demostró un enfoque integral de desarrollo de software. El resultado no solo cumple con los requisitos del cliente, sino que también refleja buenas prácticas en diseño, seguridad y trabajo en equipo, sentando las bases para futuras mejoras y escalabilidad.</a:t>
            </a:r>
            <a:endParaRPr lang="es-CL" dirty="0"/>
          </a:p>
        </p:txBody>
      </p:sp>
    </p:spTree>
    <p:extLst>
      <p:ext uri="{BB962C8B-B14F-4D97-AF65-F5344CB8AC3E}">
        <p14:creationId xmlns:p14="http://schemas.microsoft.com/office/powerpoint/2010/main" val="301138009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1202</TotalTime>
  <Words>264</Words>
  <Application>Microsoft Office PowerPoint</Application>
  <PresentationFormat>Presentación en pantalla (4:3)</PresentationFormat>
  <Paragraphs>24</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Arial</vt:lpstr>
      <vt:lpstr>Calibri</vt:lpstr>
      <vt:lpstr>Myriad Pro</vt:lpstr>
      <vt:lpstr>Myriad Pro Light</vt:lpstr>
      <vt:lpstr>Tema de Office</vt:lpstr>
      <vt:lpstr>Gestión de agencia de viajes</vt:lpstr>
      <vt:lpstr>Presentación de PowerPoint</vt:lpstr>
      <vt:lpstr>Planificación del proyecto desarrollo software.</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reyes reyes</cp:lastModifiedBy>
  <cp:revision>12</cp:revision>
  <dcterms:created xsi:type="dcterms:W3CDTF">2015-06-26T15:52:47Z</dcterms:created>
  <dcterms:modified xsi:type="dcterms:W3CDTF">2025-12-17T21:14:52Z</dcterms:modified>
</cp:coreProperties>
</file>